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5229eb2f948fa" /><Relationship Type="http://schemas.openxmlformats.org/officeDocument/2006/relationships/extended-properties" Target="/docProps/app.xml" Id="Rb9869f4d2c334a28" /><Relationship Type="http://schemas.openxmlformats.org/officeDocument/2006/relationships/officeDocument" Target="/ppt/presentation.xml" Id="R68a5e0dbfb9e4f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89ca67148c4893"/>
  </p:sldMasterIdLst>
  <p:notesMasterIdLst>
    <p:notesMasterId xmlns:r="http://schemas.openxmlformats.org/officeDocument/2006/relationships" r:id="R8c0e461ef992435a"/>
  </p:notesMasterIdLst>
  <p:sldIdLst>
    <p:sldId xmlns:r="http://schemas.openxmlformats.org/officeDocument/2006/relationships" id="256" r:id="Rf4a2836e7ca84cdf"/>
    <p:sldId xmlns:r="http://schemas.openxmlformats.org/officeDocument/2006/relationships" id="257" r:id="R196cb724f144483a"/>
    <p:sldId xmlns:r="http://schemas.openxmlformats.org/officeDocument/2006/relationships" id="258" r:id="R51e4ad56ef4c4467"/>
    <p:sldId xmlns:r="http://schemas.openxmlformats.org/officeDocument/2006/relationships" id="259" r:id="R01f98ea610d84a9b"/>
    <p:sldId xmlns:r="http://schemas.openxmlformats.org/officeDocument/2006/relationships" id="260" r:id="Rcc1805319532488a"/>
    <p:sldId xmlns:r="http://schemas.openxmlformats.org/officeDocument/2006/relationships" id="261" r:id="R3d60e3067f4b4ca1"/>
    <p:sldId xmlns:r="http://schemas.openxmlformats.org/officeDocument/2006/relationships" id="262" r:id="R5edd014be1c146a3"/>
    <p:sldId xmlns:r="http://schemas.openxmlformats.org/officeDocument/2006/relationships" id="263" r:id="Re5d16656bf7b47c1"/>
    <p:sldId xmlns:r="http://schemas.openxmlformats.org/officeDocument/2006/relationships" id="264" r:id="Re6ece6460d5e4538"/>
    <p:sldId xmlns:r="http://schemas.openxmlformats.org/officeDocument/2006/relationships" id="265" r:id="R079446965d724cb8"/>
    <p:sldId xmlns:r="http://schemas.openxmlformats.org/officeDocument/2006/relationships" id="266" r:id="R71e47ec36bce4e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6fe9831134651" /><Relationship Type="http://schemas.openxmlformats.org/officeDocument/2006/relationships/slideMaster" Target="/ppt/slideMasters/slideMaster1.xml" Id="Reb89ca67148c4893" /><Relationship Type="http://schemas.openxmlformats.org/officeDocument/2006/relationships/notesMaster" Target="/ppt/notesMasters/notesMaster1.xml" Id="R8c0e461ef992435a" /><Relationship Type="http://schemas.openxmlformats.org/officeDocument/2006/relationships/presProps" Target="/ppt/presProps.xml" Id="R76a370f3a6534ee1" /><Relationship Type="http://schemas.openxmlformats.org/officeDocument/2006/relationships/viewProps" Target="/ppt/viewProps.xml" Id="R3cb2b291e74d4dbe" /><Relationship Type="http://schemas.openxmlformats.org/officeDocument/2006/relationships/tableStyles" Target="/ppt/tableStyles.xml" Id="R93bf9ec2eb2f4937" /><Relationship Type="http://schemas.openxmlformats.org/officeDocument/2006/relationships/slide" Target="/ppt/slides/slide1.xml" Id="Rf4a2836e7ca84cdf" /><Relationship Type="http://schemas.openxmlformats.org/officeDocument/2006/relationships/slide" Target="/ppt/slides/slide2.xml" Id="R196cb724f144483a" /><Relationship Type="http://schemas.openxmlformats.org/officeDocument/2006/relationships/slide" Target="/ppt/slides/slide3.xml" Id="R51e4ad56ef4c4467" /><Relationship Type="http://schemas.openxmlformats.org/officeDocument/2006/relationships/slide" Target="/ppt/slides/slide4.xml" Id="R01f98ea610d84a9b" /><Relationship Type="http://schemas.openxmlformats.org/officeDocument/2006/relationships/slide" Target="/ppt/slides/slide5.xml" Id="Rcc1805319532488a" /><Relationship Type="http://schemas.openxmlformats.org/officeDocument/2006/relationships/slide" Target="/ppt/slides/slide6.xml" Id="R3d60e3067f4b4ca1" /><Relationship Type="http://schemas.openxmlformats.org/officeDocument/2006/relationships/slide" Target="/ppt/slides/slide7.xml" Id="R5edd014be1c146a3" /><Relationship Type="http://schemas.openxmlformats.org/officeDocument/2006/relationships/slide" Target="/ppt/slides/slide8.xml" Id="Re5d16656bf7b47c1" /><Relationship Type="http://schemas.openxmlformats.org/officeDocument/2006/relationships/slide" Target="/ppt/slides/slide9.xml" Id="Re6ece6460d5e4538" /><Relationship Type="http://schemas.openxmlformats.org/officeDocument/2006/relationships/slide" Target="/ppt/slides/slide10.xml" Id="R079446965d724cb8" /><Relationship Type="http://schemas.openxmlformats.org/officeDocument/2006/relationships/slide" Target="/ppt/slides/slide11.xml" Id="R71e47ec36bce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546a0e58b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4c8029b29c4f12" /><Relationship Type="http://schemas.openxmlformats.org/officeDocument/2006/relationships/notesMaster" Target="/ppt/notesMasters/notesMaster1.xml" Id="Ra55462863945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b48dffc5b4e4f" /><Relationship Type="http://schemas.openxmlformats.org/officeDocument/2006/relationships/notesMaster" Target="/ppt/notesMasters/notesMaster1.xml" Id="Redbc127cc9104c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2210be73245a2" /><Relationship Type="http://schemas.openxmlformats.org/officeDocument/2006/relationships/notesMaster" Target="/ppt/notesMasters/notesMaster1.xml" Id="R3acc0944ab0c49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89004a6f804cde" /><Relationship Type="http://schemas.openxmlformats.org/officeDocument/2006/relationships/notesMaster" Target="/ppt/notesMasters/notesMaster1.xml" Id="Red5500b1606a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f48ae580d9422e" /><Relationship Type="http://schemas.openxmlformats.org/officeDocument/2006/relationships/notesMaster" Target="/ppt/notesMasters/notesMaster1.xml" Id="Rc34aa19dce29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39790adbfa4e1c" /><Relationship Type="http://schemas.openxmlformats.org/officeDocument/2006/relationships/notesMaster" Target="/ppt/notesMasters/notesMaster1.xml" Id="R4243fe3d045b47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3891a9811f4b9c" /><Relationship Type="http://schemas.openxmlformats.org/officeDocument/2006/relationships/notesMaster" Target="/ppt/notesMasters/notesMaster1.xml" Id="Rb158f3d3f183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c98cd847084607" /><Relationship Type="http://schemas.openxmlformats.org/officeDocument/2006/relationships/notesMaster" Target="/ppt/notesMasters/notesMaster1.xml" Id="Re48fe8a59c994d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916d1b247e4b19" /><Relationship Type="http://schemas.openxmlformats.org/officeDocument/2006/relationships/notesMaster" Target="/ppt/notesMasters/notesMaster1.xml" Id="R69bd8151adf241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8d755e878471e" /><Relationship Type="http://schemas.openxmlformats.org/officeDocument/2006/relationships/notesMaster" Target="/ppt/notesMasters/notesMaster1.xml" Id="R65a9443b9d3a45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d6b2e1b0e8448c" /><Relationship Type="http://schemas.openxmlformats.org/officeDocument/2006/relationships/notesMaster" Target="/ppt/notesMasters/notesMaster1.xml" Id="Rb073af82d49f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ba379d2ee42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e9ff1035d44e7" /><Relationship Type="http://schemas.openxmlformats.org/officeDocument/2006/relationships/slideLayout" Target="/ppt/slideLayouts/slideLayout1.xml" Id="R8cfceaee3e4c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fceaee3e4c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918f6b4e64485" /><Relationship Type="http://schemas.openxmlformats.org/officeDocument/2006/relationships/notesSlide" Target="/ppt/notesSlides/notesSlide1.xml" Id="Ra8cbc64d15ae46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3a629dc9f426e" /><Relationship Type="http://schemas.openxmlformats.org/officeDocument/2006/relationships/notesSlide" Target="/ppt/notesSlides/notesSlide2.xml" Id="Rb2eeefe461b9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2dd515e6f4c7f" /><Relationship Type="http://schemas.openxmlformats.org/officeDocument/2006/relationships/notesSlide" Target="/ppt/notesSlides/notesSlide3.xml" Id="R03087bab45bc44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e851df6554d73" /><Relationship Type="http://schemas.openxmlformats.org/officeDocument/2006/relationships/notesSlide" Target="/ppt/notesSlides/notesSlide4.xml" Id="Rb9e80b10b8bc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cf04025214764" /><Relationship Type="http://schemas.openxmlformats.org/officeDocument/2006/relationships/notesSlide" Target="/ppt/notesSlides/notesSlide5.xml" Id="R61531f1f6502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bcb6f524a4875" /><Relationship Type="http://schemas.openxmlformats.org/officeDocument/2006/relationships/notesSlide" Target="/ppt/notesSlides/notesSlide6.xml" Id="R065f93a4ef2a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e4d98c1c14933" /><Relationship Type="http://schemas.openxmlformats.org/officeDocument/2006/relationships/notesSlide" Target="/ppt/notesSlides/notesSlide7.xml" Id="R14f8857bdce4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bf1750e3f44df" /><Relationship Type="http://schemas.openxmlformats.org/officeDocument/2006/relationships/notesSlide" Target="/ppt/notesSlides/notesSlide8.xml" Id="R458772b4c9254c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0116a59b4d02" /><Relationship Type="http://schemas.openxmlformats.org/officeDocument/2006/relationships/notesSlide" Target="/ppt/notesSlides/notesSlide9.xml" Id="R467ae80819e34b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f381f529e453c" /><Relationship Type="http://schemas.openxmlformats.org/officeDocument/2006/relationships/notesSlide" Target="/ppt/notesSlides/notesSlide10.xml" Id="R626e737f953948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c5a043c0047da" /><Relationship Type="http://schemas.openxmlformats.org/officeDocument/2006/relationships/notesSlide" Target="/ppt/notesSlides/notesSlide11.xml" Id="Rd499467ec05247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44930-349B-473E-9A0C-EACE5BA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78C2E-91F0-41CA-91AD-CD73FB15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0">
            <a:solidFill>
              <a:srgbClr val="1321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AB32A-2295-436B-BCC4-84C4D43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6750"/>
            <a:ext cx="3714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27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2C5B2-3DD3-4229-9F73-D8DED67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9525">
            <a:solidFill>
              <a:srgbClr val="315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DAB32-7F06-409E-B32D-82FA189B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6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BF479-90B4-434F-AC5C-DC14023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04950"/>
            <a:ext cx="0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3B2C9-D91E-4501-B2D6-72B93C0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D34"/>
          </a:solidFill>
          <a:ln xmlns:a="http://schemas.openxmlformats.org/drawingml/2006/main" w="9525">
            <a:solidFill>
              <a:srgbClr val="315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B4467-6D09-4D36-8DC2-62D952D9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Check-in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56DF8-9154-4F1D-A3AE-25142C2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0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47AA7-7A10-4FAE-A1FD-1157538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D34"/>
          </a:solidFill>
          <a:ln xmlns:a="http://schemas.openxmlformats.org/drawingml/2006/main" w="9525">
            <a:solidFill>
              <a:srgbClr val="315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70656-0287-4501-98C2-ADB57A9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Review-safe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35CC6-8622-4513-BD4B-5B57EA7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0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403C9-449E-44C5-87F6-DDFA1DB7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D34"/>
          </a:solidFill>
          <a:ln xmlns:a="http://schemas.openxmlformats.org/drawingml/2006/main" w="9525">
            <a:solidFill>
              <a:srgbClr val="315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DAF10-7102-4B3F-AE84-974AB99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Issue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61B51-3E5B-4693-A0EB-9E321D75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0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42A5A-9D48-45DC-9E89-D651FB9D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D34"/>
          </a:solidFill>
          <a:ln xmlns:a="http://schemas.openxmlformats.org/drawingml/2006/main" w="9525">
            <a:solidFill>
              <a:srgbClr val="315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0F3BD-116F-4708-AF90-1499D304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reminder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ED354-1E7F-4E8E-9DE0-5DD2A01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9ADB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0DED2-D30F-46A5-939B-E3514A6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FREE BETA NOW - PAID PLANS LATER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1F137-A9ED-47F4-B56F-8830698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afterservice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12C8C-CD3E-427C-9865-D1870FB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61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The post-job follow-up board for small service shops.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B1DD9-40A0-4AE5-B5FB-6152D25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Operators lose reviews, callbacks, referrals, and repeat work after the job is done. afterservice gives them one place to catch every next touch.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5A4FB-AEFB-432C-AC4D-9DE0ED4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Pitch deck - June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178FD-3B78-4E5C-BA6D-14F2D97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afterservice.app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302DF-C85E-4418-99D0-47327E1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72902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09ECC-AFD3-47BE-AB6F-B84A0C3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48E9B-BA27-4E30-BE95-4351B9F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8DB19-55B0-4FD0-A687-6D4B5E3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The job ends, but the customer relationship keeps leaking.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F7EFC-0EDD-443E-BEE8-F7F1398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F579E-F03A-40E9-98FC-7A2F6412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55082-7EC9-410C-BD95-F85CEA0A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Work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F2303-6AFA-4114-A194-2E4C9C0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Customer is satisfied today, but no next touch is scheduled.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C54A6-C3BD-473D-8241-A4C5A5D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9082A-64DC-41DB-8006-F8F83E9F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32E0C-D179-4A7F-B101-3A7C14D7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BB532-FEFD-4797-9A9F-BEBD47F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Follow-up forgotten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D6145-4309-4CE0-A7F5-B56C2F9F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528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Owners rely on memory, staff habits, calendars, spreadsheets, or WhatsApp.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DB335-AFCE-4D0F-BCD3-4036FAB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81E88-E033-48B2-998B-B1C1F83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FB5BF-22DF-46B7-9CC1-A224D395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60EED-59BE-42A1-B755-91516868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Signal missed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A5489-10C3-4C71-B2DD-16BDBEE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Warranty issues, review opportunities, referrals, and repeat-service prompts go cold.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CE9CF-B1A7-4A11-AC36-497F11AE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9B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6A3F1-5D2C-41BA-9C6A-4B430D6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2C4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20C89-CBD3-4522-A5A9-68E3919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5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DF851-D5B1-492B-BA23-D61C675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Revenue and trust leak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EADC4-2E40-4CB6-8F18-ABC5651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528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The business reacts late instead of owning the after-service moment.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782AB-ED18-4426-BC9A-EFF94B0D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The wedge is not full field-service management. It is the specific operating gap after a completed job.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B84AB-B272-45FF-8605-E111959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brain/product/vision.md; brain/research/2026-06-03-afterservice-market-grill.md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00EDC-4EDF-43F3-A5B3-6DF40E3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3284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1C187-F0A6-48EA-A3C1-64C91219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82958-6C1E-4DCD-BF8F-183E9FC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0841A-1B12-4266-BEB5-E888CCA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Start with small repair and installer shops that feel the pain monthly.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EFA11-D70F-487A-A0EF-B91D935C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CC704-E3B7-47A7-87A9-4A6FEB1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Ideal first 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B7699-4FB5-4235-B650-116B6389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2BAD3-2DBA-497B-8334-E8499B6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1-10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2995B-43C0-4139-A04B-BAE9552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7146B-0290-41B0-87A7-ACA7808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Owner or office manager owns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A5A68-5C4E-475B-A0FD-E1BCFEE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599B5-EC07-4815-92AF-BFDA3169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Completed jobs create warranty, callback, or repeat-service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16A29-E611-435D-A641-F751C3E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78A9B-A0E8-438B-AA23-943A8B95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Uses spreadsheets, Google Calendar, QuickBooks, WhatsApp, or basic booking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5F9B9-F6E9-4F87-B839-763BBD6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10B34-A956-4217-BACF-7C3C06A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Not deeply committed to Jobber, Housecall Pro, or ServiceTitan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439D3-68F4-4CA6-9305-5199DB49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DA434-AEED-4ABF-9094-4230185A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Best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ABF90-7F43-431D-8E8E-1D1A80E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193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HVAC, appliance repair, plumbing, garage doors, flooring, pest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D6CE8-F25D-4222-B2BB-97FD917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A1475-E970-4D90-AD03-932543A0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Avoid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A2FCD-E210-4EF5-8201-F2BEA40E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Salons, spas, clinics, multi-location reputation programs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DB685-0BD6-415A-8E7E-E762DFD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E9C98-40BD-4770-BA81-75B564F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1FD17-DFF2-4F19-B7DD-50F1158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529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Vertical tools already cover reminders, booking, reviews, or practice workflows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39B51-8DA8-4439-9A30-C9097E74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 market grill memo, Best Wedge and Hard Grill sections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64AF2-9258-440A-95ED-3502A97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387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94BB7-168F-4121-A939-D2261AFE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2EAD5-951C-453A-8F18-D3023C7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ADE0F-8C87-4FF5-8071-5D30839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afterservice turns every completed job into an owned next touch.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39921-1ABE-4C45-B0EF-B8AFB2B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885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1D99C-3F85-473F-8CC6-ADD09BD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Completed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FC4DD-7725-462A-952B-3291EF2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Customer, date, service,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49778-321D-4635-AC29-EC28C77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266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9B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94BA6-233D-43EA-8481-2D7346B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885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solidFill>
              <a:srgbClr val="1321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C8618-F8F6-4554-B699-0ABCA8B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Follow-up 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7E8A6-9F66-46A2-841D-6C697CCD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24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CD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CD0C8"/>
                </a:solidFill>
                <a:latin typeface="Aptos"/>
                <a:ea typeface="Aptos"/>
                <a:cs typeface="Aptos"/>
              </a:rPr>
              <a:t>Due today, upcoming, replied, missed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5263D-7513-4DCA-A133-CD742ED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266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9B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06C7E-167B-411E-ADA2-745C2F7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1885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00AE8-9250-4E0C-891D-6CA6DCF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Template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67D52-6B35-4B8A-8F39-FD53C8B4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Review-safe, issue-safe, channel-aware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9F8C0-37AF-4835-A074-5EFC4CAF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66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9B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C859B-60BF-4FB4-AA75-E90FD9CE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885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1187D-37B8-403D-AB8F-A7698E0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Operator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EDAAA-9733-41A4-92DC-0E60F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Send, log, reschedule, assign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E9447-9B60-4387-8D24-5E883DB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266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9B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140DB-B535-4603-91AD-423A70B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1885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6C130-B6C2-4B74-8A10-ABC76DB7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Outcome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26FA1-2B2F-42AC-B731-3561453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Review, recovery, referral, repeat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3B33-90E5-443B-8870-8F415A1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A6DF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B6834-F35B-4EE0-BBF0-C34B17E7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387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Core habit: every completed service job gets a next touch, and every follow-up has an owner, date, template, and status.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8D361-28D6-4341-B949-6B1F575C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brain/product/vision.md; brain/features/follow-up-board-mvp.md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44CAA-AFAB-474E-895B-9DD68749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59292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DA95F-DEF7-4603-94B8-B1CCC93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4A2D4-453C-4B32-ABCC-FCA7A38B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COMPETITIVE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D43D3-F2C5-4C69-BC1B-05B6962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The market already spends, but the focused post-job workflow is underserved.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FE77F-AFF3-403D-B086-69872C2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719C3-1945-49FD-B051-2EAF67AD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DIY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40CEB-6D60-4CEA-883E-25F656DC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Works because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68A42-6190-43C7-AA4C-6813CDC5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Free, familiar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B4BA-2210-4B4B-AC8F-9C0546F3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5A4A"/>
                </a:solidFill>
                <a:latin typeface="Aptos"/>
                <a:ea typeface="Aptos"/>
                <a:cs typeface="Aptos"/>
              </a:rPr>
              <a:t>Breaks because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66F59-3E15-4B10-B976-9A57D65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Scattered and owner-dependent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7BBA7-2295-49B0-B897-84B19AF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71230-346C-4902-B071-85D28C13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FSM platforms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871D9-410E-4D82-895F-45FF412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Works because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DA6FE-2A6C-4C2D-8091-BC02223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Complete operating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59F00-EB05-4B01-8833-60A18BA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5A4A"/>
                </a:solidFill>
                <a:latin typeface="Aptos"/>
                <a:ea typeface="Aptos"/>
                <a:cs typeface="Aptos"/>
              </a:rPr>
              <a:t>Breaks because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3C4E5-98AE-4D94-B5C8-4489C26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Too broad, expensive, or heavy for small 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8E860-D464-4C2A-A4BC-11660AD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1A1E3-1AD1-4CD5-9C1F-54386135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Reputation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D2BEB-8B58-4788-9D35-DB0FA61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Works because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ACE1-786A-4D8A-8DD7-AED40B3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Strong reviews and messaging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5166F-CE30-40A8-B88F-FC67D58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5A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5A4A"/>
                </a:solidFill>
                <a:latin typeface="Aptos"/>
                <a:ea typeface="Aptos"/>
                <a:cs typeface="Aptos"/>
              </a:rPr>
              <a:t>Breaks because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19237-75BC-4FDF-A626-8ABC44E0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Less tied to completed jobs and issue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8D400-7965-45AE-89D7-544F0D6F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solidFill>
              <a:srgbClr val="13211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235CA-2F4E-4F33-A8F1-C3B6F9B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69FA9-A326-4F12-B894-EE11CF1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8E6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8E6D5"/>
                </a:solidFill>
                <a:latin typeface="Aptos"/>
                <a:ea typeface="Aptos"/>
                <a:cs typeface="Aptos"/>
              </a:rPr>
              <a:t>Works because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D0B19-E29C-42EA-B826-F33658C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Focused after-job 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C534D-C5CE-4D27-BE2A-FBE45870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C6B9"/>
                </a:solidFill>
                <a:latin typeface="Aptos"/>
                <a:ea typeface="Aptos"/>
                <a:cs typeface="Aptos"/>
              </a:rPr>
              <a:t>Breaks because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93848-BDEB-4876-B39B-2D389923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Must prove habit and 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81D07-4B79-4956-AE5D-2B4314F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Positioning: a lightweight bolt-on for shops too small or too tired for full field-service software.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212D2-E937-438D-9F8A-A5C0849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Competitor anchors: Jobber, Housecall Pro, Birdeye, Podium, NiceJob; see appendix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61A9A-0EC5-4DDE-A13F-128B3FB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83872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C2ACC-3C62-4EAF-9849-566A8D91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31E18-A38E-4187-84BE-EB1FD27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B4D57-F4D6-4D2D-8811-6279D7C5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Pricing should reduce friction now and monetize scale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409E6-AA19-4B3E-A1DF-151E7A0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7A87F-5D2C-4CEC-B69D-87EAB080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Free Beta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17908-5C97-4600-BB57-3A3885D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D7FA0-873F-478D-A0CE-8FA3EE6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Validate real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1732D-0589-4622-9C1B-91981E3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1 user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100 customers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200 follow-ups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5 templates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A66C5-5020-490B-8A4B-B5DF541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381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solidFill>
              <a:srgbClr val="13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D4011-B10B-42CC-BCB0-51BC01F2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A3248-A481-455A-AA40-E6022AC7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8E6D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8E6D5"/>
                </a:solidFill>
                <a:latin typeface="Aptos"/>
                <a:ea typeface="Aptos"/>
                <a:cs typeface="Aptos"/>
              </a:rPr>
              <a:t>$29/mo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E9701-28B5-48B4-AF2D-88220F6A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14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Solo owner/operator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47406-38B1-4C56-AFF2-41A0159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Core board</a:t>
            </a:r>
          </a:p>
          <a:p xmlns:a="http://schemas.openxmlformats.org/drawingml/2006/main">
            <a:pPr algn="l">
              <a:defRPr sz="9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CSV import</a:t>
            </a:r>
          </a:p>
          <a:p xmlns:a="http://schemas.openxmlformats.org/drawingml/2006/main">
            <a:pPr algn="l">
              <a:defRPr sz="9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Basic reports</a:t>
            </a:r>
          </a:p>
          <a:p xmlns:a="http://schemas.openxmlformats.org/drawingml/2006/main">
            <a:pPr algn="l">
              <a:defRPr sz="9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Manual logging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69ED0-C86A-40F0-BA46-A4F04E1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381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56BE4-9681-469D-83C4-72B6204D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CBF69-1634-4E0D-8B82-A1FCD6E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$79/mo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7CF2B-3C25-4041-911C-F7CE9B75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Small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7C1F1-C8D6-4E21-8A0F-825B219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5 users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Sequences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Provider integrations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Recurring reminders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A6B9C-EB53-46A3-879E-F99A6BB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81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C75AA-42C0-4081-A43B-F600FF9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67DC6-7899-4009-BF51-CFDD94A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9B9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9B98"/>
                </a:solidFill>
                <a:latin typeface="Aptos"/>
                <a:ea typeface="Aptos"/>
                <a:cs typeface="Aptos"/>
              </a:rPr>
              <a:t>$149/mo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9F627-0CF8-4B3E-8DDC-3B8133E2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Scaling operator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35FD0-8650-4435-BB51-52C4E28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15 users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Automation rules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Zapier/webhooks</a:t>
            </a:r>
          </a:p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Priority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B0E5F-F86E-466F-8541-64061B9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23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Gating principle: keep the board open; charge for scale, teams, automation, integrations, reporting, and support.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41FF1-2C46-4920-B664-B09B6DCF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brain/product/pricing-strategy.md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75982-3CE2-4F19-BC28-4F7CAEE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13776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9C9517-8278-4854-AA76-FDADFBA0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A3A68-B7E9-4C2D-AFE1-C3EF9BE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VALIDATION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ACFDC-92F2-4FF3-81CB-41AE56CF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Free beta is a validation instrument, not the business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8310F-106F-4AA6-9D21-4B1EF88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EA57-BB7C-4652-97EB-93D3121C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57F3B-6253-49B6-A19D-E4684D37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Interview 20 operators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CC48A-EC05-4DB7-B889-2F0814E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Map current follow-up workflow and pain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BA943-2186-4AB0-BB0E-25FCE4E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F84A5-7F8C-4698-B085-F8E871C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F4D18-5ACB-4550-B3A2-7FDF6D5B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Run 10 concierge pilots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37EC9-D09D-4723-9CAB-79CD20D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Import last 30 completed jobs and set up next touches.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85B44-EC5E-46B6-860C-86EC3022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ECC78-DDBA-47F0-8AEE-7EC14D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BC624-7711-4A30-9EF7-6F00DAD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Ask for paid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52AE9-F937-4DAC-B71B-E6E6DDC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Test $49-$99/month and done-with-you setup.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81324-6D4F-41AF-9FCF-292489F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ED749-3809-474A-AFD0-BCD54919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89D92-3E79-438F-910A-B039B98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Narrow the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E1B74-4F7D-4E5D-97C1-DDA1C56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Keep only the beachhead with repeated urgency.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EEC08-BF8B-437C-A36D-EF5C86D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721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116D9-1274-4188-A072-B3B9E4F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05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Charge when 3 businesses use it weekly or 3 businesses commit to paying.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A7E64-EB23-4429-BC00-D0E49C4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 market grill memo, 30-Day Validation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81C39-C883-4C8D-AD45-47CD2023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59200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2EE56-6F39-4519-80F6-0A374CD7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7486D-538F-46C4-A26A-6DB7407C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PRODUCT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D9F88-979D-457B-98F5-4C85E13A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Roadmap: earn the workflow before automating the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0590E-5B0E-4188-83FB-AA7811C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81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4EC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BF4D9-8453-4A19-A969-6B1EDE2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Now: manual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DB815-A287-44B1-A22C-B64088D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952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Customers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Completed jobs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Follow-up board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Templates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Manual send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E0F74-BFCD-4049-A122-0FB02B7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381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7225C-182B-4736-BA86-A9183D0D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Next: activation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0208C-D6A4-4294-B367-BA6333A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52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CSV import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Google review link setup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Issue workflow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Recurring reminders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Simple ROI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E9345-014B-4367-B6AA-FC5867BC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2381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DFE6A-4162-4098-9EFD-1D7D8BE3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Then: paid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B6083-5039-4BAC-B38F-CCACF80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1952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Provider messaging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Zapier/webhooks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Automation rules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Team workflows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079CE-F038-4C97-B91C-97F7326B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381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2C4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1DC1B-E2A5-48C3-8F12-A110BA4B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5A4A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422D3-D88A-429C-BFEF-17916121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1952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Full scheduling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Invoicing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Payments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Customer portal</a:t>
            </a:r>
          </a:p>
          <a:p xmlns:a="http://schemas.openxmlformats.org/drawingml/2006/main">
            <a:pPr algn="l">
              <a:defRPr sz="11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AI receptionist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1C57C-4F2B-4087-B7DB-3DA11F88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Manual workflows first, automation second. The product should never surprise the operator with customer messaging.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45E63-3437-46BA-9925-3C3AFB0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brain/product/vision.md; brain/product/roadmap.md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657BC-93A0-4DD6-BAFA-06B77358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27620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CE749-C0FF-49BB-885A-71569C4B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D4737-D2CC-44B0-8A3D-8B7140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MARKET AND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EA090-DE5E-47E5-B3CB-BA7D889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The upside is a focused point product in a large, fragmented SMB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0F6A-F67A-4FCE-9FC5-ACF5432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FDE68-31E6-4F53-8B8A-5316684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9B9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9B98"/>
                </a:solidFill>
                <a:latin typeface="Aptos Display"/>
                <a:ea typeface="Aptos Display"/>
                <a:cs typeface="Aptos Display"/>
              </a:rPr>
              <a:t>1M-3M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E90F-59D6-4A49-BF4A-EF576C2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Potential U.S. local service businesses that may care about post-service follow-up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CE96-2548-4285-91EB-816BABD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8A66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A66A"/>
                </a:solidFill>
                <a:latin typeface="Aptos Display"/>
                <a:ea typeface="Aptos Display"/>
                <a:cs typeface="Aptos Display"/>
              </a:rPr>
              <a:t>$29-$149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BFF05-7CF2-4479-B3AD-6BD85D4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Plausible monthly ARPA range for a focused micro-SaaS point 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31136-A1A8-44B4-ADDA-BAA3DF7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28800"/>
            <a:ext cx="6572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6BC1A-6C0A-44E0-9C9B-06A67B8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8E6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8E6D5"/>
                </a:solidFill>
                <a:latin typeface="Aptos"/>
                <a:ea typeface="Aptos"/>
                <a:cs typeface="Aptos"/>
              </a:rPr>
              <a:t>First 3-year SOM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F41B-84F4-4954-A136-27EDDFB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500-5,000 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3D0D3-FF16-4B82-B5B1-7CDF6CF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$300k-$6M ARR depending on ARPA and churn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E8AD6-B077-46A8-BBDE-3E3B404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533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FE0D9"/>
                </a:solidFill>
                <a:latin typeface="Aptos"/>
                <a:ea typeface="Aptos"/>
                <a:cs typeface="Aptos"/>
              </a:rPr>
              <a:t>The point is not to out-platform incumbents. It is to own a narrow workflow they make too expensive, too buried, or too generic.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EF91C-6D68-48B8-8582-C3AF0566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 market grill memo; public anchors include SBA, IMARC, Marketdata, Market Intelo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91C96-3CCF-4D91-90F2-64714D7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38655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892FF-7A03-491C-B900-58E750C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FC228-80C3-4323-AE61-5E5CDFA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C9B3C-3AC1-4D90-8596-CAD55F5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The main risks are known, and the beta plan is designed to kill them quickly.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F9343-817B-4A4E-AC8F-8BD3876C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ED605-2745-4E7D-91A9-6D8E75E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Nice-to-have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1B6B5-016F-4E05-9F35-974F7A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Operators like the idea but do not use the board weekly.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0CF8B-0E71-4CD2-B85F-9F19F87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Weekly usage gate before charging.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A941E-1325-49A2-B3A1-7284848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905E5-A66E-4F57-8219-BAF58D64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Setup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78A68-B175-423D-BC3C-1B1DD9E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Manual entry slows adoption.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AF460-2B26-4865-80D7-E37944D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CSV import first, then Zapier/webhook imports.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AE80-047C-452D-A8C9-122285B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A2F89-42EB-429E-B58C-9C80105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Incumbent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AF098-3025-476B-98CE-A1CBB1C4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Jobber, HCP, Square, or Podium already solve enough.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BF8E5-E65D-42BB-9870-EC417812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Focus on small shops and post-job promises, not full 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12513-7E27-4DF5-B7FE-B25CC7AF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EEF05-6FC1-4E43-B3FD-B554F91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Compliance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78674-2408-4E3D-BEC8-4EE8543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Review gating creates policy exposure.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32225-CE89-4DAF-9C7F-8DC99C3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95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Ask every customer for honest feedback; issue workflow is separate.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74767-5592-4565-B2A3-6AF6E9E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Source: Brain market grill memo, Compliance Risk and Fail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6221F-750E-4D04-AC55-F5F3692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90677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D4DA3-232E-45F1-B5C6-42BD337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6A325-B5C3-4CB7-9DEC-095B185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OPERATING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30D53-9E8D-4858-AA7E-ABA214B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11B"/>
                </a:solidFill>
                <a:latin typeface="Aptos Display"/>
                <a:ea typeface="Aptos Display"/>
                <a:cs typeface="Aptos Display"/>
              </a:rPr>
              <a:t>Next ask: use free beta to find the paid beachhead.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E1428-842B-4375-ADA8-67345F57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1B"/>
          </a:solidFill>
          <a:ln xmlns:a="http://schemas.openxmlformats.org/drawingml/2006/main" w="9525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C0642-C983-4640-AF3F-FDDA0AA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3BE90-8F21-4A6B-8D05-521A3DD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FE0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FE0D9"/>
                </a:solidFill>
                <a:latin typeface="Aptos"/>
                <a:ea typeface="Aptos"/>
                <a:cs typeface="Aptos"/>
              </a:rPr>
              <a:t>to prove whether small service shops rely on afterservice enough to 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E960D-F742-4D79-8DB2-CFEA0F0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22FE7-A8F0-4BDB-A472-64D82DA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1B"/>
                </a:solidFill>
                <a:latin typeface="Aptos"/>
                <a:ea typeface="Aptos"/>
                <a:cs typeface="Aptos"/>
              </a:rPr>
              <a:t>Decision after beta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013A8-325B-493C-A864-D97D4306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4F704-4D96-4C6E-96FE-0D5A275E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813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If weekly usage and paid intent appear: launch Starter/Shop/Growth pricing.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EFA19-FB04-4485-96CB-DED9D70F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CFB6B-E958-49B3-8073-FF2B131B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If setup friction dominates: prioritize import and integration work before public launch.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DD85F-AADF-4479-8363-FA93A74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8"/>
          </a:solidFill>
          <a:ln xmlns:a="http://schemas.openxmlformats.org/drawingml/2006/main" w="0">
            <a:solidFill>
              <a:srgbClr val="009B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6060E-0CE6-4613-88BC-5632E1F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767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11B"/>
                </a:solidFill>
                <a:latin typeface="Aptos"/>
                <a:ea typeface="Aptos"/>
                <a:cs typeface="Aptos"/>
              </a:rPr>
              <a:t>If pain is generic or weak: narrow the ICP again or stop before building a bigger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0EA4A-294E-4C45-A103-69F9FA4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B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B78"/>
                </a:solidFill>
                <a:latin typeface="Aptos"/>
                <a:ea typeface="Aptos"/>
                <a:cs typeface="Aptos"/>
              </a:rPr>
              <a:t>afterservice.app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A2E4B-6C2A-4E17-B5EB-E63D0F8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Prepared from project Brain, June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BE0A9-A025-402B-AAFA-9B454F7A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3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1464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2026-06-03T21:44:45.2500000Z</dcterms:created>
  <dcterms:modified xsi:type="dcterms:W3CDTF">2026-06-03T21:44:45.2510000Z</dcterms:modified>
</coreProperties>
</file>